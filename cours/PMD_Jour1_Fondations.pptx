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: ce n'est pas une coquetterie de développeur. Un pipeline non reproductible n'est pas livrable.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étudiants mesurent eux-mêmes au TP 1.3. Sur la machine de préparation du cours, le facteur mesuré était de 89.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25880"/>
            <a:ext cx="914400" cy="91440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37160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ET MANIPULATION DE DONNÉES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645920"/>
            <a:ext cx="6903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Fondations : environnement, NumPy, Pandas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3063240"/>
            <a:ext cx="8138160" cy="0"/>
          </a:xfrm>
          <a:prstGeom prst="line">
            <a:avLst/>
          </a:prstGeom>
          <a:noFill/>
          <a:ln w="12700">
            <a:solidFill>
              <a:srgbClr val="1C4A4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3291840"/>
            <a:ext cx="1897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511296"/>
            <a:ext cx="1897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heures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537460" y="3291840"/>
            <a:ext cx="1897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THÉORIE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537460" y="3511296"/>
            <a:ext cx="1897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291840"/>
            <a:ext cx="1897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511296"/>
            <a:ext cx="1897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06540" y="3291840"/>
            <a:ext cx="1897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606540" y="3511296"/>
            <a:ext cx="1897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Git + rapport d'exploration automatique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et Manipulation de Données  ·  M1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Déroulé de la journée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346900"/>
          </a:xfrm>
          <a:prstGeom prst="roundRect">
            <a:avLst>
              <a:gd name="adj" fmla="val 13180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371314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9224" y="137131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325880"/>
            <a:ext cx="11430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1325880"/>
            <a:ext cx="59436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virtuel, structure de projet, versionnement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1325880"/>
            <a:ext cx="54864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745932"/>
            <a:ext cx="8138160" cy="346900"/>
          </a:xfrm>
          <a:prstGeom prst="roundRect">
            <a:avLst>
              <a:gd name="adj" fmla="val 13180"/>
            </a:avLst>
          </a:prstGeom>
          <a:solidFill>
            <a:srgbClr val="FFFFFF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" y="1791367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" y="17913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1745932"/>
            <a:ext cx="11430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09:45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1745932"/>
            <a:ext cx="59436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1.1 — Installer, figer, versionner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1745932"/>
            <a:ext cx="54864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165985"/>
            <a:ext cx="8138160" cy="346900"/>
          </a:xfrm>
          <a:prstGeom prst="roundRect">
            <a:avLst>
              <a:gd name="adj" fmla="val 13180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" y="2211419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" y="221141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2165985"/>
            <a:ext cx="11430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148840" y="2165985"/>
            <a:ext cx="59436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: le tableau comme unité de calcul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2165985"/>
            <a:ext cx="54864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2586038"/>
            <a:ext cx="8138160" cy="346900"/>
          </a:xfrm>
          <a:prstGeom prst="roundRect">
            <a:avLst>
              <a:gd name="adj" fmla="val 13180"/>
            </a:avLst>
          </a:prstGeom>
          <a:solidFill>
            <a:srgbClr val="FFFFFF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" y="2631472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" y="2631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2586038"/>
            <a:ext cx="11430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11:30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148840" y="2586038"/>
            <a:ext cx="59436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1.2 et 1.3 — Manipulations et mesure de performance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2586038"/>
            <a:ext cx="54864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006090"/>
            <a:ext cx="8138160" cy="346900"/>
          </a:xfrm>
          <a:prstGeom prst="roundRect">
            <a:avLst>
              <a:gd name="adj" fmla="val 13180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" y="3051524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9224" y="30515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" y="3006090"/>
            <a:ext cx="11430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13:30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148840" y="3006090"/>
            <a:ext cx="59436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: Series, DataFrame, lecture et typage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955280" y="3006090"/>
            <a:ext cx="54864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3426143"/>
            <a:ext cx="8138160" cy="346900"/>
          </a:xfrm>
          <a:prstGeom prst="roundRect">
            <a:avLst>
              <a:gd name="adj" fmla="val 13180"/>
            </a:avLst>
          </a:prstGeom>
          <a:solidFill>
            <a:srgbClr val="FFFFFF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" y="3471577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9224" y="347157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05840" y="3426143"/>
            <a:ext cx="11430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2148840" y="3426143"/>
            <a:ext cx="59436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2.1 — Lire une source depuis trois formats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955280" y="3426143"/>
            <a:ext cx="54864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 15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" y="3846195"/>
            <a:ext cx="8138160" cy="346900"/>
          </a:xfrm>
          <a:prstGeom prst="roundRect">
            <a:avLst>
              <a:gd name="adj" fmla="val 13180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9224" y="3891629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9224" y="38916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005840" y="3846195"/>
            <a:ext cx="11430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2148840" y="3846195"/>
            <a:ext cx="59436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2.2 — Sélection, filtrage, vues et copies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955280" y="3846195"/>
            <a:ext cx="54864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2920" y="4266247"/>
            <a:ext cx="8138160" cy="346900"/>
          </a:xfrm>
          <a:prstGeom prst="roundRect">
            <a:avLst>
              <a:gd name="adj" fmla="val 13180"/>
            </a:avLst>
          </a:prstGeom>
          <a:solidFill>
            <a:srgbClr val="FFFFFF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9224" y="4311682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9224" y="43116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1005840" y="4266247"/>
            <a:ext cx="11430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2148840" y="4266247"/>
            <a:ext cx="59436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2.3 — Écrire un rapport d'exploration réutilisable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955280" y="4266247"/>
            <a:ext cx="54864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théorie   ·   P = pratique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THÉORIE · 45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un environnement virtuel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problèmes que l'isolation résout, et qu'aucune autre pratique ne résout à sa place.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65376"/>
            <a:ext cx="2578608" cy="2834640"/>
          </a:xfrm>
          <a:prstGeom prst="roundRect">
            <a:avLst>
              <a:gd name="adj" fmla="val 2128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4825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4203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Conflits de versions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108960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projets exigent deux versions de pandas. Sans isolation, l'un des deux casse à chaque installation.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82696" y="1865376"/>
            <a:ext cx="2578608" cy="2834640"/>
          </a:xfrm>
          <a:prstGeom prst="roundRect">
            <a:avLst>
              <a:gd name="adj" fmla="val 2128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65576" y="204825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65576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65576" y="254203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65576" y="3108960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fige l'état exact. Six mois plus tard, le pipeline s'exécute encore à l'identique.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62472" y="1865376"/>
            <a:ext cx="2578608" cy="2834640"/>
          </a:xfrm>
          <a:prstGeom prst="roundRect">
            <a:avLst>
              <a:gd name="adj" fmla="val 2128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45352" y="2048256"/>
            <a:ext cx="384048" cy="38404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45352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45352" y="254203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Transmissibilité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45352" y="3108960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collègue clone le dépôt et retrouve votre environnement en deux commandes, sans vous solliciter.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Mettre en place le projet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9844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commandes, à taper ensemble avant de toucher au moindre notebook.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73936"/>
            <a:ext cx="8138160" cy="2455164"/>
          </a:xfrm>
          <a:prstGeom prst="roundRect">
            <a:avLst>
              <a:gd name="adj" fmla="val 2235"/>
            </a:avLst>
          </a:prstGeom>
          <a:solidFill>
            <a:srgbClr val="10302F"/>
          </a:solidFill>
          <a:ln w="12700">
            <a:solidFill>
              <a:srgbClr val="1030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920240"/>
            <a:ext cx="7735824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.venv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.venv/bin/activate      # Windows : .venv\Scripts\activate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freeze &gt; requirements.txt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 '.venv/\ndata/raw/\n' &gt; .gitignore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&amp;&amp; git commit -m 'Initialisation du projet PMD'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4357116"/>
            <a:ext cx="8138160" cy="384048"/>
          </a:xfrm>
          <a:prstGeom prst="roundRect">
            <a:avLst>
              <a:gd name="adj" fmla="val 11905"/>
            </a:avLst>
          </a:prstGeom>
          <a:solidFill>
            <a:srgbClr val="FDF1E6"/>
          </a:solidFill>
          <a:ln w="9525">
            <a:solidFill>
              <a:srgbClr val="F2D6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" y="4357116"/>
            <a:ext cx="7808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data/raw/ est dans le .gitignore : on versionne le code qui transforme, pas les données.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138160" cy="4320540"/>
          </a:xfrm>
          <a:prstGeom prst="roundRect">
            <a:avLst>
              <a:gd name="adj" fmla="val 1693"/>
            </a:avLst>
          </a:prstGeom>
          <a:solidFill>
            <a:srgbClr val="FFFFFF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658368"/>
            <a:ext cx="457200" cy="45720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58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1.1 — Installer, figer, versionner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178040" y="685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0424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Obtenir un environnement que votre voisin pourrait reconstruire sans vous poser de question.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499616"/>
            <a:ext cx="7589520" cy="0"/>
          </a:xfrm>
          <a:prstGeom prst="line">
            <a:avLst/>
          </a:prstGeom>
          <a:noFill/>
          <a:ln w="12700">
            <a:solidFill>
              <a:srgbClr val="D6E2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664208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" y="1618488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le venv, l'activer, installer les dépendances du fichier requirements.txt fourni.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282571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28257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" y="2236851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dans le notebook que sys.executable pointe bien vers .venv — c'est l'erreur numéro un.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2900934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9009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2855214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Initialiser le dépôt Git, écrire le .gitignore, faire le premier commit.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519297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51929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" y="3473577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un README de dix lignes : ce que fait le projet, comment l'installer, où sont les données.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210812"/>
            <a:ext cx="7589520" cy="402336"/>
          </a:xfrm>
          <a:prstGeom prst="roundRect">
            <a:avLst>
              <a:gd name="adj" fmla="val 11364"/>
            </a:avLst>
          </a:prstGeom>
          <a:solidFill>
            <a:srgbClr val="E6F2F1"/>
          </a:solidFill>
          <a:ln w="9525">
            <a:solidFill>
              <a:srgbClr val="C3DE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2108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Dépôt Git initialisé, requirements.txt figé, README rédigé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THÉORIE · 45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: trois idées, pas une de plus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578608" cy="2834640"/>
          </a:xfrm>
          <a:prstGeom prst="roundRect">
            <a:avLst>
              <a:gd name="adj" fmla="val 2128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8132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751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type unique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42032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valeurs d'un ndarray partagent le même type. D'où un stockage contigu en mémoire, et des opérations déléguées à du code compilé.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82696" y="1298448"/>
            <a:ext cx="2578608" cy="2834640"/>
          </a:xfrm>
          <a:prstGeom prst="roundRect">
            <a:avLst>
              <a:gd name="adj" fmla="val 2128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65576" y="148132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65576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65576" y="19751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L'axe qui disparaît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65576" y="2542032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axis=0 agrège sur les lignes et laisse une valeur par colonne. Se tromper d'axe est l'erreur la plus fréquente des débutants.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62472" y="1298448"/>
            <a:ext cx="2578608" cy="2834640"/>
          </a:xfrm>
          <a:prstGeom prst="roundRect">
            <a:avLst>
              <a:gd name="adj" fmla="val 2128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481328"/>
            <a:ext cx="384048" cy="38404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4535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19751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broadcasting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45352" y="2542032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forme (5,1) et une forme (5,12) s'alignent automatiquement. C'est ce qui permet de centrer chaque ligne sans écrire de boucle.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L'axe est la dimension qui disparaît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138160" cy="2930652"/>
          </a:xfrm>
          <a:prstGeom prst="roundRect">
            <a:avLst>
              <a:gd name="adj" fmla="val 1872"/>
            </a:avLst>
          </a:prstGeom>
          <a:solidFill>
            <a:srgbClr val="10302F"/>
          </a:solidFill>
          <a:ln w="12700">
            <a:solidFill>
              <a:srgbClr val="1030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444752"/>
            <a:ext cx="7735824" cy="2638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temperatures = rng.normal(14, 6, size=(5, 12))   # 5 capteurs x 12 mois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temperatures.mean(axis=0)   # -&gt; 12 valeurs : une par mois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temperatures.mean(axis=1)   # -&gt;  5 valeurs : une par capteur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temperatures.mean()         # -&gt;  1 valeur  : la moyenne globale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Masque booléen : même forme que l'original, sert à lire ET à écrire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is_freezing = temperatures &lt; 0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temperatures[is_freezing] = 0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4357116"/>
            <a:ext cx="8138160" cy="384048"/>
          </a:xfrm>
          <a:prstGeom prst="roundRect">
            <a:avLst>
              <a:gd name="adj" fmla="val 11905"/>
            </a:avLst>
          </a:prstGeom>
          <a:solidFill>
            <a:srgbClr val="FDF1E6"/>
          </a:solidFill>
          <a:ln w="9525">
            <a:solidFill>
              <a:srgbClr val="F2D6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4357116"/>
            <a:ext cx="7808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chaque .mean(axis=...), demandez-vous : combien de valeurs je veux en sortie ?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3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FAITE EN SÉANCE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coût réel d'une boucle Python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91640"/>
            <a:ext cx="252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606040"/>
            <a:ext cx="252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dans le tableau de test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15640" y="1691640"/>
            <a:ext cx="252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×30–100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3215640" y="2606040"/>
            <a:ext cx="252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for par rapport à NumPy sur la même somme de carrés, selon la machine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28360" y="1691640"/>
            <a:ext cx="252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5928360" y="2606040"/>
            <a:ext cx="252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 de code en plus pour la version vectorisée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4183380"/>
            <a:ext cx="8138160" cy="0"/>
          </a:xfrm>
          <a:prstGeom prst="line">
            <a:avLst/>
          </a:prstGeom>
          <a:noFill/>
          <a:ln w="12700">
            <a:solidFill>
              <a:srgbClr val="1C4A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42748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9FB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L'écart ne vient pas du calcul mais de l'interprétation : chaque tour de boucle crée des objets et vérifie des types.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138160" cy="4320540"/>
          </a:xfrm>
          <a:prstGeom prst="roundRect">
            <a:avLst>
              <a:gd name="adj" fmla="val 1693"/>
            </a:avLst>
          </a:prstGeom>
          <a:solidFill>
            <a:srgbClr val="FFFFFF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658368"/>
            <a:ext cx="457200" cy="45720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58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1.2 et 1.3 — NumPy et vectorisation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178040" y="685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0424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Manipuler des tableaux sans boucle, puis mesurer ce que la vectorisation fait gagner.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499616"/>
            <a:ext cx="7589520" cy="0"/>
          </a:xfrm>
          <a:prstGeom prst="line">
            <a:avLst/>
          </a:prstGeom>
          <a:noFill/>
          <a:ln w="12700">
            <a:solidFill>
              <a:srgbClr val="D6E2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664208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" y="1618488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Centrer chaque ligne sur la moyenne de son propre capteur, par broadcasting.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282571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28257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" y="2236851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Compter, par capteur, les mois au-dessus de la moyenne globale.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2900934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9009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2855214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les valeurs à plus de deux écarts types par la médiane — sur une copie.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519297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51929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" y="3473577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Chronométrer trois implémentations d'une même somme de carrés et commenter l'écart.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210812"/>
            <a:ext cx="7589520" cy="402336"/>
          </a:xfrm>
          <a:prstGeom prst="roundRect">
            <a:avLst>
              <a:gd name="adj" fmla="val 11364"/>
            </a:avLst>
          </a:prstGeom>
          <a:solidFill>
            <a:srgbClr val="E6F2F1"/>
          </a:solidFill>
          <a:ln w="9525">
            <a:solidFill>
              <a:srgbClr val="C3DE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2108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Notebook 01 exécuté, quatre assertions passées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THÉORIE · 30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: ce qui s'ajoute à NumPy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578608" cy="2834640"/>
          </a:xfrm>
          <a:prstGeom prst="roundRect">
            <a:avLst>
              <a:gd name="adj" fmla="val 2128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8132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751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L'index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42032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porte une étiquette. Les opérations entre Series s'alignent sur ces étiquettes, pas sur les positions.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82696" y="1298448"/>
            <a:ext cx="2578608" cy="2834640"/>
          </a:xfrm>
          <a:prstGeom prst="roundRect">
            <a:avLst>
              <a:gd name="adj" fmla="val 2128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65576" y="148132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65576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65576" y="19751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types mixtes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65576" y="2542032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colonne par type. C'est ce qui permet de représenter une table métier — et ce qui rend le typage si fragile.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62472" y="1298448"/>
            <a:ext cx="2578608" cy="2834640"/>
          </a:xfrm>
          <a:prstGeom prst="roundRect">
            <a:avLst>
              <a:gd name="adj" fmla="val 2128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481328"/>
            <a:ext cx="384048" cy="38404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4535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19751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contre iloc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45352" y="2542032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travaille sur les étiquettes et inclut la borne haute ; iloc sur les positions et l'exclut. Confondre les deux passe inaperçu.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RÉFLEXE À ACQUÉRIR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jamais faire confiance à l'inférence de types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41064" cy="2331720"/>
          </a:xfrm>
          <a:prstGeom prst="roundRect">
            <a:avLst>
              <a:gd name="adj" fmla="val 2353"/>
            </a:avLst>
          </a:prstGeom>
          <a:solidFill>
            <a:srgbClr val="FBEEEC"/>
          </a:solidFill>
          <a:ln w="9525">
            <a:solidFill>
              <a:srgbClr val="EBC9C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490472"/>
            <a:ext cx="3538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fait spontanément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1856232"/>
            <a:ext cx="353872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= pd.read_csv('ventes.csv')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on enchaîne directement sur les calculs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survient trois étapes plus loin, sur une autre colonne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cherche la cause au mauvais endroit pendant vingt minutes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0016" y="1325880"/>
            <a:ext cx="3941064" cy="2331720"/>
          </a:xfrm>
          <a:prstGeom prst="roundRect">
            <a:avLst>
              <a:gd name="adj" fmla="val 2353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01184" y="1490472"/>
            <a:ext cx="3538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faire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01184" y="1856232"/>
            <a:ext cx="353872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= pd.read_csv('ventes.csv')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df.dtypes  — systématiquement, après chaque lecture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Isoler les valeurs récalcitrantes avec errors='coerce'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à la lecture, pas en aval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7657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ventes_brutes.csv, 7 % des prix sont saisis « 123,45 EUR ». La colonne entière devient du texte.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Isoler ce qui ne se convertit pas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138160" cy="3433572"/>
          </a:xfrm>
          <a:prstGeom prst="roundRect">
            <a:avLst>
              <a:gd name="adj" fmla="val 1598"/>
            </a:avLst>
          </a:prstGeom>
          <a:solidFill>
            <a:srgbClr val="10302F"/>
          </a:solidFill>
          <a:ln w="12700">
            <a:solidFill>
              <a:srgbClr val="1030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444752"/>
            <a:ext cx="7735824" cy="3140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as_number = pd.to_numeric(sales['prix_unitaire'], errors='coerce')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unparsable = sales.loc[as_number.isna(), 'prix_unitaire']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print(len(unparsable))          # 1 230 valeurs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print(unparsable.head(3).tolist())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['165,82 EUR', '72,91 EUR', '654,21 EUR']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 correction tient en deux remplacements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series.astype(str).str.replace(' EUR', '', regex=False)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pd.to_numeric(text.str.replace(',', '.', regex=False), errors='coerce')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PIÈGE DU JOUR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 ou copie : le SettingWithCopyWarning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41064" cy="2331720"/>
          </a:xfrm>
          <a:prstGeom prst="roundRect">
            <a:avLst>
              <a:gd name="adj" fmla="val 2353"/>
            </a:avLst>
          </a:prstGeom>
          <a:solidFill>
            <a:srgbClr val="FBEEEC"/>
          </a:solidFill>
          <a:ln w="9525">
            <a:solidFill>
              <a:srgbClr val="EBC9C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490472"/>
            <a:ext cx="3538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travail est perdu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1856232"/>
            <a:ext cx="353872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= sales[sales['statut'] == 'annule']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subset['montant'] = 0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avertissement s'affiche, on l'ignore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n'a pas changé : la modification est partie dans le vide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0016" y="1325880"/>
            <a:ext cx="3941064" cy="2331720"/>
          </a:xfrm>
          <a:prstGeom prst="roundRect">
            <a:avLst>
              <a:gd name="adj" fmla="val 2353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01184" y="1490472"/>
            <a:ext cx="3538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l'intention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01184" y="1856232"/>
            <a:ext cx="353872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l'original :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sales.loc[sales['statut'] == 'annule', 'montant'] = 0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Travailler à part :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= sales[...].copy()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7657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L'avertissement signale une ambiguïté dans votre code. Ce n'est pas un bruit à faire taire.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138160" cy="4320540"/>
          </a:xfrm>
          <a:prstGeom prst="roundRect">
            <a:avLst>
              <a:gd name="adj" fmla="val 1693"/>
            </a:avLst>
          </a:prstGeom>
          <a:solidFill>
            <a:srgbClr val="FFFFFF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658368"/>
            <a:ext cx="457200" cy="45720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58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2.1 à 2.3 — Lire, filtrer, explorer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178040" y="685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 15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0424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Terminer la journée avec une fonction d'exploration que vous réutiliserez jusqu'à la soutenance.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499616"/>
            <a:ext cx="7589520" cy="0"/>
          </a:xfrm>
          <a:prstGeom prst="line">
            <a:avLst/>
          </a:prstGeom>
          <a:noFill/>
          <a:ln w="12700">
            <a:solidFill>
              <a:srgbClr val="D6E2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664208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" y="1618488"/>
            <a:ext cx="713232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le même extrait depuis CSV, Excel et JSON ; comparer les types obtenus et conclure.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158898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15889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" y="2113178"/>
            <a:ext cx="713232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Relire le CSV en imposant dtype, na_values et usecols en une seule instruction.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2653589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65358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2607869"/>
            <a:ext cx="713232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quatre filtres combinés, puis calculer un total par canal sans utiliser groupby.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148279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14827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" y="3102559"/>
            <a:ext cx="713232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profile_dataframe(df) : dimensions, doublons, taux de manquants, cardinalité, modalités.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3642970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64297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61288" y="3597250"/>
            <a:ext cx="713232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Déplacer la fonction dans src/exploration.py et l'appliquer aux trois jeux de données.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4210812"/>
            <a:ext cx="7589520" cy="402336"/>
          </a:xfrm>
          <a:prstGeom prst="roundRect">
            <a:avLst>
              <a:gd name="adj" fmla="val 11364"/>
            </a:avLst>
          </a:prstGeom>
          <a:solidFill>
            <a:srgbClr val="E6F2F1"/>
          </a:solidFill>
          <a:ln w="9525">
            <a:solidFill>
              <a:srgbClr val="C3DE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42108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src/exploration.py + liste écrite des anomalies repérées sur ventes_brutes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3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JOURNÉE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 1 — Fondations posées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41064" cy="3040380"/>
          </a:xfrm>
          <a:prstGeom prst="roundRect">
            <a:avLst>
              <a:gd name="adj" fmla="val 1805"/>
            </a:avLst>
          </a:prstGeom>
          <a:solidFill>
            <a:srgbClr val="1C4A47"/>
          </a:solidFill>
          <a:ln w="12700">
            <a:solidFill>
              <a:srgbClr val="1C4A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57276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savez faire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1901952"/>
            <a:ext cx="3538728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Monter un environnement reproductible et le versionner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Raisonner en tableaux plutôt qu'en boucles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une source en contrôlant les types plutôt qu'en les subissant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Diagnostiquer un jeu de données inconnu en une commande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0016" y="1417320"/>
            <a:ext cx="3941064" cy="3040380"/>
          </a:xfrm>
          <a:prstGeom prst="roundRect">
            <a:avLst>
              <a:gd name="adj" fmla="val 1805"/>
            </a:avLst>
          </a:prstGeom>
          <a:solidFill>
            <a:srgbClr val="1C4A47"/>
          </a:solidFill>
          <a:ln w="12700">
            <a:solidFill>
              <a:srgbClr val="1C4A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01184" y="157276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rendre avant demain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901184" y="1901952"/>
            <a:ext cx="3538728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Terminer les six questions du notebook 02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la liste des anomalies de ventes_brutes — cinq à dix lignes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Committer src/exploration.py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en binôme le jeu de données de votre projet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48513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9FB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Demain : le nettoyage. Votre liste d'anomalies en sera le point de départ.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PMD — Jour 1 : Fondations</dc:title>
  <dc:subject>PptxGenJS Presentation</dc:subject>
  <dc:creator>Module PMD — M1</dc:creator>
  <cp:lastModifiedBy>Module PMD — M1</cp:lastModifiedBy>
  <cp:revision>1</cp:revision>
  <dcterms:created xsi:type="dcterms:W3CDTF">2026-09-21T06:44:41Z</dcterms:created>
  <dcterms:modified xsi:type="dcterms:W3CDTF">2026-09-21T06:44:41Z</dcterms:modified>
</cp:coreProperties>
</file>