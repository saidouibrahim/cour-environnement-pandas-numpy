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que ce sont les chiffres que leur propre profile_dataframe a produits 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25880"/>
            <a:ext cx="914400" cy="9144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3716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MANIPULATION DE DONNÉES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4592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 et qualité des données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8138160" cy="0"/>
          </a:xfrm>
          <a:prstGeom prst="line">
            <a:avLst/>
          </a:prstGeom>
          <a:noFill/>
          <a:ln w="12700">
            <a:solidFill>
              <a:srgbClr val="1C4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heures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3746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53746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06540" y="3291840"/>
            <a:ext cx="1897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06540" y="3511296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 nettoyage idempotent + journal des décisions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Manipulation de Données  ·  M1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de la journée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37131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371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325880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 : MCAR, MAR, MNAR et leurs conséquences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325880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45932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1791367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17913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745932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1745932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3.1 — Cartographier et diagnostiquer les absences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745932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65985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2211419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22114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165985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2165985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3.1 — Rédiger une stratégie colonne par colonne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165985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86038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263147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" y="2631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2586038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48840" y="2586038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 : IQR, score z, et pourquoi ils divergent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586038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006090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" y="3051524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" y="30515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006090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8840" y="3006090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3.2 — Détecter, comparer, traiter différemment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3006090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426143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471577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" y="34715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3426143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148840" y="3426143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stricts, doublons métier, faux niveaux textuels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3426143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846195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" y="3891629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9224" y="38916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3846195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148840" y="3846195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3.3 — Normaliser sans casser les clés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955280" y="3846195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266247"/>
            <a:ext cx="8138160" cy="346900"/>
          </a:xfrm>
          <a:prstGeom prst="roundRect">
            <a:avLst>
              <a:gd name="adj" fmla="val 13180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" y="431168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9224" y="43116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05840" y="4266247"/>
            <a:ext cx="11430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2148840" y="4266247"/>
            <a:ext cx="594360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3.4 — Écrire clean_sales, idempotente et journalisée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4266247"/>
            <a:ext cx="548640" cy="34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théorie   ·   P = pratique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contient ventes_brutes.csv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17 609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livrées, dont 240 doublons stricts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1564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1 941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21564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remises manquantes, soit 11 % de la colonne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28360" y="169164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928360" y="2606040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aberrantes : négatives, ou de 300 à 1 199 unités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83380"/>
            <a:ext cx="8138160" cy="0"/>
          </a:xfrm>
          <a:prstGeom prst="line">
            <a:avLst/>
          </a:prstGeom>
          <a:noFill/>
          <a:ln w="12700">
            <a:solidFill>
              <a:srgbClr val="1C4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42748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B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de ces anomalies ne lève d'erreur. Toutes fausseront les résultats si elles passent.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mécanismes d'absence, trois traitements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peut faire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L'absence est indépendante de tout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ne biaise pas ; on perd seulement de la puissance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L'absence s'explique par d'autres colonnes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Imputation conditionnelle, par groupe — la plus honnête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L'absence dépend de la valeur absente elle-même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traitement biaise ; l'absence doit devenir une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5948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prouve pas le mécanisme à partir des données. On l'argumente à partir du processus qui les a produites.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Diagnostiquer avant d'imputer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où la remise manque ressemblent-elles aux autres 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73936"/>
            <a:ext cx="8138160" cy="2455164"/>
          </a:xfrm>
          <a:prstGeom prst="roundRect">
            <a:avLst>
              <a:gd name="adj" fmla="val 2235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920240"/>
            <a:ext cx="7735824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has_no_discount = sales['remise_pct'].isna()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'remise manquante':  sales[has_no_discount][['quantite', 'prix_unitaire']].mean(),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'remise renseignée': sales[~has_no_discount][['quantite', 'prix_unitaire']].mean(),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}).round(2)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Profils semblables -&gt; MCAR plausible, imputation par 0 défendable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Profils différents  -&gt; l'absence porte de l'information, créer un indicateur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4357116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FDF1E6"/>
          </a:solidFill>
          <a:ln w="9525">
            <a:solidFill>
              <a:srgbClr val="F2D6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43571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L'imputation silencieuse est la faute. Le choix, lui, se discute.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3.1 — Cartographier les absences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45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une stratégie écrite, colonne par colonne, que vous devrez défendre en soutenance.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taux de manquants par colonne, trié — sur ventes et sur clients.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28257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82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36851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 profil des lignes incomplètes à celui du reste : même moyenne ? mêmes statuts 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0093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00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855214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l'âge des clients, vérifier si les absences se concentrent sur un segment ou une ville.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519297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473577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le dictionnaire missing_value_strategy : action + justification obligatoire par colonne.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Tableau des stratégies, chaque ligne justifiée en une phrase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Impossible n'est pas improbable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BEEEC"/>
          </a:solidFill>
          <a:ln w="9525">
            <a:solidFill>
              <a:srgbClr val="EBC9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négative — impossible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de −3 unités n'existe pas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une erreur de saisie ou de signe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lignes concernées dans le jeu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corrige ou se supprime sans état d'âme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à 800 — improbable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mais parfaitement possible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professionnelle, réassort, marché public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lignes concernées dans le fichier brut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Supprimer, c'est effacer un segment de clientèle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765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traiter de la même façon parce qu'un seuil statistique les signale ensemble est une faute méthodologique.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les deux méthodes divergent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2930652"/>
          </a:xfrm>
          <a:prstGeom prst="roundRect">
            <a:avLst>
              <a:gd name="adj" fmla="val 1872"/>
            </a:avLst>
          </a:prstGeom>
          <a:solidFill>
            <a:srgbClr val="10302F"/>
          </a:solidFill>
          <a:ln w="12700">
            <a:solidFill>
              <a:srgbClr val="103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44752"/>
            <a:ext cx="7735824" cy="2638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iqr_bounds(series, factor=1.5):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q1, q3 = series.quantile([0.25, 0.75])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q1 - factor * (q3 - q1), q3 + factor * (q3 - q1)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zscore_bounds(series, n_std=3):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series.mean() - n_std * series.std(), series.mean() + n_std * series.std()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IQR     bornes [  -2.00 ;    6.00]  -&gt;  74 valeurs signalées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 z bornes [-119.00 ;  127.75]  -&gt;  61 valeurs signalées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4357116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FDF1E6"/>
          </a:solidFill>
          <a:ln w="9525">
            <a:solidFill>
              <a:srgbClr val="F2D6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4357116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z se calcule sur la moyenne et l'écart type — que les valeurs extrêmes déforment elles-mêmes.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3.2 — Détecter et traiter les aberrations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042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Arbitrer entre deux méthodes qui ne disent pas la même chose, et assumer l'arbitrage.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499616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642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618488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compare_outlier_methods(df, colonne) : bornes, nombre détecté, part, min et max signalés.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28257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82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236851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à quantite puis à prix_unitaire ; expliquer pourquoi les verdicts diffèrent.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0093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00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855214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un boxplot par statut en échelle logarithmique — sans le log, tout est écrasé.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519297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473577"/>
            <a:ext cx="7132320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séparément l'impossible et l'improbable, et journaliser chaque compte.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handle_quantity_outliers(df) renvoyant (df, log)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 · 30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familles de doublons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 strict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colonnes identiques. Se détecte par duplicated(), se supprime sans réfléchir. 240 lignes ici.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82696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4813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 métier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personne saisie deux fois sous deux identifiants. Aucune colonne technique ne le révèle : il faut comparer les attributs.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62472" y="1298448"/>
            <a:ext cx="2578608" cy="2834640"/>
          </a:xfrm>
          <a:prstGeom prst="roundRect">
            <a:avLst>
              <a:gd name="adj" fmla="val 2128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481328"/>
            <a:ext cx="384048" cy="38404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9751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niveau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2542032"/>
            <a:ext cx="22128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Paris », « PARIS », «  Paris  » comptent pour trois modalités. Neuf villes deviennent trente-trois.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DU JOUR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jamais normaliser une colonne identifiante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BEEEC"/>
          </a:solidFill>
          <a:ln w="9525">
            <a:solidFill>
              <a:srgbClr val="EBC9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qui casse tout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col in df.select_dtypes('object'):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df[col] = normalize_text(df[col])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P0027 devient p0027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Demain, la jointure produit un jeu vide — sans aucune erreur levée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325880"/>
            <a:ext cx="3941064" cy="2331720"/>
          </a:xfrm>
          <a:prstGeom prst="roundRect">
            <a:avLst>
              <a:gd name="adj" fmla="val 2353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490472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explicitement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856232"/>
            <a:ext cx="3538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TEXT_COLUMNS = ['canal', 'statut', 'ville_livraison']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KEY_COLUMNS = ['id_client', 'id_produit', 'id_magasin']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col in TEXT_COLUMNS: ...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clés traversent le pipeline intactes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765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Déduire la liste des colonnes de leur type est commode. C'est aussi la façon la plus rapide de casser un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138160" cy="432054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5836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3.3 et 3.4 — Dédoublonner et industrialiser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685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350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vos décisions de la matinée en une fonction que l'on peut relancer les yeux fermés.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92224"/>
            <a:ext cx="7589520" cy="0"/>
          </a:xfrm>
          <a:prstGeom prst="line">
            <a:avLst/>
          </a:prstGeom>
          <a:noFill/>
          <a:ln w="12700">
            <a:solidFill>
              <a:srgbClr val="D6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5681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1911096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 les seules colonnes descriptives, puis recompter les doublons stricts : pourquoi augmentent-ils 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392985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929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2347265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dans clients les doublons métier : même ville, segment, date d'inscription et âge.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82915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8291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2783434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clean_sales(df) en huit étapes, renvoyant (df_propre, log) — le log est noté.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26532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653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219602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l'idempotence : clean_sales(clean_sales(df)) doit être strictement identique.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701491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7014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3655771"/>
            <a:ext cx="7132320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ventes_nettoyees et journal_nettoyage.json.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210812"/>
            <a:ext cx="7589520" cy="402336"/>
          </a:xfrm>
          <a:prstGeom prst="roundRect">
            <a:avLst>
              <a:gd name="adj" fmla="val 11364"/>
            </a:avLst>
          </a:prstGeom>
          <a:solidFill>
            <a:srgbClr val="E6F2F1"/>
          </a:solidFill>
          <a:ln w="9525">
            <a:solidFill>
              <a:srgbClr val="C3DE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2108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src/cleaning.py + jeu nettoyé + journal des transformations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Idempotence : pourquoi c'est la propriété qui compte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idempotente donne le même résultat qu'on l'applique une ou trois fois.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8138160" cy="621792"/>
          </a:xfrm>
          <a:prstGeom prst="roundRect">
            <a:avLst>
              <a:gd name="adj" fmla="val 7353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2996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1865376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relancé par erreur ne doit pas produire un jeu différent du précédent.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81381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74320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2578608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étape non idempotente se repère à ses symptômes : des lignes qui disparaissent à chaque exécution, un compteur qui dérive.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138160" cy="621792"/>
          </a:xfrm>
          <a:prstGeom prst="roundRect">
            <a:avLst>
              <a:gd name="adj" fmla="val 7353"/>
            </a:avLst>
          </a:prstGeom>
          <a:solidFill>
            <a:srgbClr val="F3F7F6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45643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" y="3291840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tient en deux lignes : appliquer la fonction à son propre résultat, comparer avec .equals().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81381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6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169664"/>
            <a:ext cx="292608" cy="29260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" y="400507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première chose qu'un jury vérifie, et la première question posée en soutenance.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JOURNÉE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2 — Les données sont propres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41064" cy="3040380"/>
          </a:xfrm>
          <a:prstGeom prst="roundRect">
            <a:avLst>
              <a:gd name="adj" fmla="val 1805"/>
            </a:avLst>
          </a:prstGeom>
          <a:solidFill>
            <a:srgbClr val="1C4A47"/>
          </a:solidFill>
          <a:ln w="12700">
            <a:solidFill>
              <a:srgbClr val="1C4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57276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faire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901952"/>
            <a:ext cx="3538728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un mécanisme d'absence avant de choisir une imputation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Arbitrer entre deux méthodes de détection qui se contredisent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l'impossible de l'improbable, et les traiter différemment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une fonction de nettoyage idempotente et journalisée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0016" y="1417320"/>
            <a:ext cx="3941064" cy="3040380"/>
          </a:xfrm>
          <a:prstGeom prst="roundRect">
            <a:avLst>
              <a:gd name="adj" fmla="val 1805"/>
            </a:avLst>
          </a:prstGeom>
          <a:solidFill>
            <a:srgbClr val="1C4A47"/>
          </a:solidFill>
          <a:ln w="12700">
            <a:solidFill>
              <a:srgbClr val="1C4A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1184" y="157276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rendre avant demain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901952"/>
            <a:ext cx="3538728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Terminer les neuf questions du notebook 03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clean_sales au jeu de données de votre projet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 tableau des décisions : action, justification, alternative écartée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src/cleaning.py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4851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FB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des décisions sera repris tel quel dans votre note méthodologique.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PMD — Jour 2 : Nettoyage et qualité</dc:title>
  <dc:subject>PptxGenJS Presentation</dc:subject>
  <dc:creator>Module PMD — M1</dc:creator>
  <cp:lastModifiedBy>Module PMD — M1</cp:lastModifiedBy>
  <cp:revision>1</cp:revision>
  <dcterms:created xsi:type="dcterms:W3CDTF">2026-09-21T06:44:41Z</dcterms:created>
  <dcterms:modified xsi:type="dcterms:W3CDTF">2026-09-21T06:44:41Z</dcterms:modified>
</cp:coreProperties>
</file>